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9"/>
      <p:bold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109728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>
              <a:alpha val="12156"/>
            </a:srgbClr>
          </a:solidFill>
          <a:ln w="9525" cap="flat" cmpd="sng">
            <a:solidFill>
              <a:srgbClr val="E8B84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640080"/>
            <a:ext cx="292608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>
              <a:alpha val="20000"/>
            </a:srgbClr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20" y="457200"/>
            <a:ext cx="54864" cy="347472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Trebuchet MS"/>
              <a:buNone/>
            </a:pPr>
            <a:r>
              <a:rPr lang="en-US" b="1" i="0" u="none" strike="noStrike" cap="none" dirty="0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DATA ANALYTICS HACKATHON  •  WOOBLE IPL CRUNCH '26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96012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IPL CRUNCH '26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19019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What Actually Wins IPL Matches?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2487168"/>
            <a:ext cx="5943600" cy="36576"/>
          </a:xfrm>
          <a:prstGeom prst="rect">
            <a:avLst/>
          </a:prstGeom>
          <a:solidFill>
            <a:srgbClr val="B0C4DE">
              <a:alpha val="50196"/>
            </a:srgbClr>
          </a:solidFill>
          <a:ln w="12700" cap="flat" cmpd="sng">
            <a:solidFill>
              <a:srgbClr val="B0C4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31520" y="267004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Yobin Bangera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0" y="3090672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31520" y="3090672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029968" y="3090672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2029968" y="3090672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328416" y="3090672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328416" y="3090672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26864" y="3090672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626864" y="3090672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DAX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2E7E88E-D866-86FD-C480-D3FED6D2A0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858" y="2411730"/>
            <a:ext cx="212598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COMPETITION OVERVIEW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About the Hackathon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1298448"/>
            <a:ext cx="2606040" cy="105156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1298448"/>
            <a:ext cx="64008" cy="105156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94360" y="137160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Organized By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94360" y="164592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Wooble — IPL Crunch '26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Data Analytics Challenge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46120" y="1298448"/>
            <a:ext cx="5440680" cy="105156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46120" y="1298448"/>
            <a:ext cx="64008" cy="105156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383280" y="1371600"/>
            <a:ext cx="5257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 Objective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383280" y="1645920"/>
            <a:ext cx="5257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Analyze 5 seasons of IPL data to uncover match-winning patterns, player impact, toss strategy, and phase-based insights.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2514600"/>
            <a:ext cx="1993392" cy="11704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" y="3072384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Toss Impact Analysis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633472" y="2514600"/>
            <a:ext cx="1993392" cy="11704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724912" y="3072384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Intelligence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809744" y="2514600"/>
            <a:ext cx="1993392" cy="11704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901184" y="3072384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Player Analytics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986016" y="2514600"/>
            <a:ext cx="1993392" cy="11704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077456" y="3072384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Hidden Patterns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Submission Requirements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41330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694944" y="40965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1. Charts &amp; Visualizations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633472" y="41330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871216" y="40965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2. Python/Excel Workflow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809744" y="41330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047488" y="40965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3. Dashboard/Presentation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986016" y="41330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223760" y="40965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4. One Surprising Finding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2451E-02EB-A816-F24A-E58CBA96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979" y="2681697"/>
            <a:ext cx="520922" cy="452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6146826-7210-CF89-8DC9-FB0FB0D8C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663" y="2624328"/>
            <a:ext cx="523874" cy="52387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DC81E4B-3059-0F22-91CA-778660799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0956" y="2595421"/>
            <a:ext cx="552781" cy="55278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EEAB891-10E8-2654-FF10-DE795464E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8712" y="2624328"/>
            <a:ext cx="535780" cy="535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PROBLEM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Questions Solved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1298448"/>
            <a:ext cx="8229600" cy="74980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1444752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94360" y="144475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1300"/>
              <a:buFont typeface="Arial Black"/>
              <a:buNone/>
            </a:pPr>
            <a:r>
              <a:rPr lang="en-US" sz="1300" b="1" i="0" u="none" strike="noStrike" cap="none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755648" y="1371600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Does winning the toss really help?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755648" y="1700784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FA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FA3"/>
                </a:solidFill>
                <a:latin typeface="Calibri"/>
                <a:ea typeface="Calibri"/>
                <a:cs typeface="Calibri"/>
                <a:sym typeface="Calibri"/>
              </a:rPr>
              <a:t>Toss decision vs match outcome across 342 matches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2185416"/>
            <a:ext cx="8229600" cy="74980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94360" y="233172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94360" y="23317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1300"/>
              <a:buFont typeface="Arial Black"/>
              <a:buNone/>
            </a:pPr>
            <a:r>
              <a:rPr lang="en-US" sz="1300" b="1" i="0" u="none" strike="noStrike" cap="none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755648" y="2258568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Which phase impacts victory the most?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755648" y="2587752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FA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FA3"/>
                </a:solidFill>
                <a:latin typeface="Calibri"/>
                <a:ea typeface="Calibri"/>
                <a:cs typeface="Calibri"/>
                <a:sym typeface="Calibri"/>
              </a:rPr>
              <a:t>Powerplay  •  Middle Overs  •  Death Overs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3072384"/>
            <a:ext cx="8229600" cy="74980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94360" y="3218688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94360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1300"/>
              <a:buFont typeface="Arial Black"/>
              <a:buNone/>
            </a:pPr>
            <a:r>
              <a:rPr lang="en-US" sz="1300" b="1" i="0" u="none" strike="noStrike" cap="none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755648" y="3145536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Who are the most impactful players?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755648" y="3474720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FA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FA3"/>
                </a:solidFill>
                <a:latin typeface="Calibri"/>
                <a:ea typeface="Calibri"/>
                <a:cs typeface="Calibri"/>
                <a:sym typeface="Calibri"/>
              </a:rPr>
              <a:t>Batters, bowlers &amp; match-defining performances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3959352"/>
            <a:ext cx="8229600" cy="74980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94360" y="410565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94360" y="41056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1300"/>
              <a:buFont typeface="Arial Black"/>
              <a:buNone/>
            </a:pPr>
            <a:r>
              <a:rPr lang="en-US" sz="1300" b="1" i="0" u="none" strike="noStrike" cap="none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755648" y="4032504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hidden patterns influence victories?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755648" y="4361688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FA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FA3"/>
                </a:solidFill>
                <a:latin typeface="Calibri"/>
                <a:ea typeface="Calibri"/>
                <a:cs typeface="Calibri"/>
                <a:sym typeface="Calibri"/>
              </a:rPr>
              <a:t>Correlations, KPIs &amp; surprising data insights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B94860-ACEE-ACCA-0D8F-9FABD172D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470" y="1402271"/>
            <a:ext cx="523874" cy="52387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BEBC51-F72E-AF47-92F0-1502B3635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564" y="2257855"/>
            <a:ext cx="535780" cy="535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5FFBF0-A00D-4A6C-F4C3-5CDE70132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04" y="3198773"/>
            <a:ext cx="520922" cy="45218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AB839F-6AC1-7FFD-FA12-BAB6CE784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2845" y="4020363"/>
            <a:ext cx="552781" cy="5527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OVERVIEW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Overview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1298448"/>
            <a:ext cx="2560320" cy="123444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7200" y="1371600"/>
            <a:ext cx="256032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342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2039112"/>
            <a:ext cx="2560320" cy="46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Matches Analyzed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291840" y="1298448"/>
            <a:ext cx="2560320" cy="123444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291840" y="1371600"/>
            <a:ext cx="256032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120K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291840" y="2039112"/>
            <a:ext cx="2560320" cy="46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Runs Scored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126480" y="1298448"/>
            <a:ext cx="2560320" cy="123444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126480" y="1371600"/>
            <a:ext cx="256032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4K+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126480" y="2039112"/>
            <a:ext cx="2560320" cy="46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Wickets Tracked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2724912"/>
            <a:ext cx="3931920" cy="7772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2724912"/>
            <a:ext cx="64008" cy="7772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94360" y="27980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94360" y="307238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IPL Ball-by-Ball Data  |  Seasons: 2022 – 2026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0" y="2724912"/>
            <a:ext cx="4114800" cy="7772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572000" y="2724912"/>
            <a:ext cx="64008" cy="7772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709160" y="27980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Scale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709160" y="30723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342 Matches  •  120K+ Runs  •  4K+ Wickets  •  5 Seasons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Data Fields Included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396849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57200" y="396849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633472" y="396849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2633472" y="396849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Bowler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09744" y="396849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809744" y="396849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986016" y="396849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986016" y="396849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Wickets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433425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57200" y="43342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633472" y="433425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2633472" y="43342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Toss Decisions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809744" y="433425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809744" y="43342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 Results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986016" y="4334256"/>
            <a:ext cx="1993392" cy="2560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986016" y="43342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PREPARATION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Python-Based Data Cleaning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57200" y="12984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Cleaning Steps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1664208"/>
            <a:ext cx="3840480" cy="34747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57200" y="1664208"/>
            <a:ext cx="54864" cy="3474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94360" y="1664208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Missing value handling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2103120"/>
            <a:ext cx="3840480" cy="34747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57200" y="2103120"/>
            <a:ext cx="54864" cy="3474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94360" y="2103120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Team name standardization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2542032"/>
            <a:ext cx="3840480" cy="34747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" y="2542032"/>
            <a:ext cx="54864" cy="3474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94360" y="2542032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Data type corrections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57200" y="2980944"/>
            <a:ext cx="3840480" cy="34747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57200" y="2980944"/>
            <a:ext cx="54864" cy="3474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94360" y="2980944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Duplicate removal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7200" y="3419856"/>
            <a:ext cx="3840480" cy="34747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57200" y="3419856"/>
            <a:ext cx="54864" cy="3474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94360" y="3419856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Match phase creation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3858768"/>
            <a:ext cx="3840480" cy="34747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57200" y="3858768"/>
            <a:ext cx="54864" cy="3474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94360" y="3858768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KPI engineering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572000" y="12984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KPIs Engineered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572000" y="1664208"/>
            <a:ext cx="1920240" cy="56692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681728" y="1719072"/>
            <a:ext cx="17007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Dot Ball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681728" y="1956816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Bowling pressure metric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675120" y="1664208"/>
            <a:ext cx="1920240" cy="56692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784848" y="1719072"/>
            <a:ext cx="17007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Strike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784848" y="1956816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Batting aggression index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0" y="2368296"/>
            <a:ext cx="1920240" cy="56692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681728" y="2423160"/>
            <a:ext cx="17007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Economy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681728" y="2660904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Runs conceded per over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675120" y="2368296"/>
            <a:ext cx="1920240" cy="56692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784848" y="2423160"/>
            <a:ext cx="17007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Boundary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784848" y="2660904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Fours &amp; sixes per innings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0" y="3072384"/>
            <a:ext cx="1920240" cy="56692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681728" y="3127248"/>
            <a:ext cx="17007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Toss Win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681728" y="3364992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Toss to result correlation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675120" y="3072384"/>
            <a:ext cx="1920240" cy="56692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784848" y="3127248"/>
            <a:ext cx="17007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Chase Success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784848" y="3364992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Chasing team win rate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14400" y="46177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FA3"/>
              </a:buClr>
              <a:buSzPts val="950"/>
              <a:buFont typeface="Calibri"/>
              <a:buNone/>
            </a:pPr>
            <a:r>
              <a:rPr lang="en-US" sz="1100" b="0" i="1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# Phase Momentum Metrics also engineered for Powerplay, Middle &amp; Death overs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DATA ENGINEERING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Processing Pipeline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57200" y="1371600"/>
            <a:ext cx="1188720" cy="118872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57200" y="195681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JSON/CSV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664208" y="1883664"/>
            <a:ext cx="18288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773936" y="177393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874520" y="1371600"/>
            <a:ext cx="1188720" cy="118872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874520" y="195681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081528" y="1883664"/>
            <a:ext cx="18288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191256" y="177393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291840" y="1371600"/>
            <a:ext cx="1188720" cy="118872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291840" y="195681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498848" y="1883664"/>
            <a:ext cx="18288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608576" y="177393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709160" y="1371600"/>
            <a:ext cx="1188720" cy="118872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709160" y="195681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916168" y="1883664"/>
            <a:ext cx="18288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025896" y="177393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126480" y="1371600"/>
            <a:ext cx="1188720" cy="118872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126480" y="195681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333488" y="1883664"/>
            <a:ext cx="18288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443216" y="177393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543800" y="1371600"/>
            <a:ext cx="1188720" cy="118872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543800" y="195681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Libraries &amp; Tools Used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3200400"/>
            <a:ext cx="1993392" cy="141732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57200" y="3200400"/>
            <a:ext cx="1993392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66928" y="3310128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Pandas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66928" y="3639312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Data manipulation &amp; analysis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633472" y="3200400"/>
            <a:ext cx="1993392" cy="141732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2633472" y="3200400"/>
            <a:ext cx="1993392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2743200" y="3310128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NumPy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2743200" y="3639312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Numerical computing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809744" y="3200400"/>
            <a:ext cx="1993392" cy="141732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809744" y="3200400"/>
            <a:ext cx="1993392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919472" y="3310128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Matplotlib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919472" y="3639312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Exploratory visualizations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986016" y="3200400"/>
            <a:ext cx="1993392" cy="141732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986016" y="3200400"/>
            <a:ext cx="1993392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095744" y="3310128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dirty="0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</a:t>
            </a:r>
            <a:r>
              <a:rPr lang="en-US" sz="1300" b="1" dirty="0" err="1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Colab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095744" y="3639312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Interactive development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9271F31-942E-AED5-8BEE-9630B646C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958" y="1413892"/>
            <a:ext cx="542924" cy="54292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A0CE14F-9D54-829F-C20C-AE4E7FDC2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9987" y="1439038"/>
            <a:ext cx="526922" cy="5269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AAFEA83-21CA-E8D6-E0C6-CBADF0A21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95" y="1447800"/>
            <a:ext cx="499872" cy="49987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7F5D43-104D-CB4D-523D-6467CD793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0121" y="1426464"/>
            <a:ext cx="633222" cy="63322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DEDAEC6-4E61-9B49-30FD-D773249EE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8237" y="1488187"/>
            <a:ext cx="450341" cy="45034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91951ED-0C81-B567-64AA-57872E75E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V="1">
            <a:off x="5015774" y="1461328"/>
            <a:ext cx="486344" cy="486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DESIGN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Dashboard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57200" y="1298448"/>
            <a:ext cx="5120640" cy="342900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57200" y="1298448"/>
            <a:ext cx="5120640" cy="347472"/>
          </a:xfrm>
          <a:prstGeom prst="rect">
            <a:avLst/>
          </a:prstGeom>
          <a:solidFill>
            <a:srgbClr val="0D2040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566928" y="1316736"/>
            <a:ext cx="49011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Trebuchet MS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Power BI — IPL Analytics 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94360" y="1755648"/>
            <a:ext cx="1078992" cy="594360"/>
          </a:xfrm>
          <a:prstGeom prst="rect">
            <a:avLst/>
          </a:prstGeom>
          <a:solidFill>
            <a:srgbClr val="0B1935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94360" y="1792224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Arial Black"/>
              <a:buNone/>
            </a:pPr>
            <a:r>
              <a:rPr lang="en-US" sz="14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342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4360" y="210312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Matches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801368" y="1755648"/>
            <a:ext cx="1078992" cy="594360"/>
          </a:xfrm>
          <a:prstGeom prst="rect">
            <a:avLst/>
          </a:prstGeom>
          <a:solidFill>
            <a:srgbClr val="0B1935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1801368" y="1792224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Arial Black"/>
              <a:buNone/>
            </a:pPr>
            <a:r>
              <a:rPr lang="en-US" sz="14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120K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801368" y="210312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008376" y="1755648"/>
            <a:ext cx="1078992" cy="594360"/>
          </a:xfrm>
          <a:prstGeom prst="rect">
            <a:avLst/>
          </a:prstGeom>
          <a:solidFill>
            <a:srgbClr val="0B1935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008376" y="1792224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Arial Black"/>
              <a:buNone/>
            </a:pPr>
            <a:r>
              <a:rPr lang="en-US" sz="14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50.9%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008376" y="210312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Chase Win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215384" y="1755648"/>
            <a:ext cx="1078992" cy="594360"/>
          </a:xfrm>
          <a:prstGeom prst="rect">
            <a:avLst/>
          </a:prstGeom>
          <a:solidFill>
            <a:srgbClr val="0B1935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215384" y="1792224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Arial Black"/>
              <a:buNone/>
            </a:pPr>
            <a:r>
              <a:rPr lang="en-US" sz="14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49.1%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215384" y="210312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Toss Win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806440" y="1298448"/>
            <a:ext cx="2880360" cy="7132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6446520" y="1389888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Multi-Page Navigation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806440" y="2148840"/>
            <a:ext cx="2880360" cy="7132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6446520" y="2240280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Dynamic Slicers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806440" y="2999232"/>
            <a:ext cx="2880360" cy="7132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446520" y="3090672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Cross - Filtering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806440" y="3849624"/>
            <a:ext cx="2880360" cy="71323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446520" y="3941064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Executive KPI Cards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8DB76-F229-C9E3-6694-4684BCECB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5" y="2447099"/>
            <a:ext cx="3837509" cy="2164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TOURNAMENT INTELLIGENCE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Tournament Overview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57200" y="1298448"/>
            <a:ext cx="1993392" cy="12070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457200" y="1371600"/>
            <a:ext cx="1993392" cy="66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342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57200" y="2022653"/>
            <a:ext cx="1993392" cy="45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Matches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2633472" y="1298448"/>
            <a:ext cx="1993392" cy="12070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2633472" y="1371600"/>
            <a:ext cx="1993392" cy="66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120K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633472" y="2022653"/>
            <a:ext cx="1993392" cy="45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Runs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09744" y="1298448"/>
            <a:ext cx="1993392" cy="12070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809744" y="1371600"/>
            <a:ext cx="1993392" cy="66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176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809744" y="2022653"/>
            <a:ext cx="1993392" cy="45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Avg Innings 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986016" y="1298448"/>
            <a:ext cx="1993392" cy="12070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986016" y="1371600"/>
            <a:ext cx="1993392" cy="66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50.9%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986016" y="2022653"/>
            <a:ext cx="1993392" cy="45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Chase Success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989320" y="2651760"/>
            <a:ext cx="2743200" cy="2286000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5989320" y="2651760"/>
            <a:ext cx="274320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629400" y="2788920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Key Insight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126480" y="3493374"/>
            <a:ext cx="2514600" cy="91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Scoring trends increased significantly over seasons, highlighting the aggressive modern IPL batting evolution. Average team score rose from 2022 to 2025.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ADF3FD3-5DB9-CE8E-F70F-F1166AE83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6035040" y="2785720"/>
            <a:ext cx="537210" cy="5372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C76504-9777-A7DA-7C69-19BBA0C35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292" y="2638045"/>
            <a:ext cx="4046778" cy="22925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TOSS IMPACT ANALYSIS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Does Winning the Toss Matter?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5" name="Google Shape;3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298448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4389120" y="1298448"/>
            <a:ext cx="2057400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4389120" y="1371600"/>
            <a:ext cx="2057400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49.1%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389120" y="2000707"/>
            <a:ext cx="2057400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Toss Winners Won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629400" y="1298448"/>
            <a:ext cx="2057400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6629400" y="1371600"/>
            <a:ext cx="2057400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50.9%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629400" y="2000707"/>
            <a:ext cx="2057400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Chasers Won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389120" y="26060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Strategic Insights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389120" y="2944368"/>
            <a:ext cx="4297680" cy="53035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498848" y="30175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4754880" y="2944368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Toss-winning teams won only 49.12% of matches — barely better than a coin flip.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389120" y="3602736"/>
            <a:ext cx="4297680" cy="53035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4498848" y="367588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754880" y="3602736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Chasing teams won 50.88%, making 'field first' the dominant modern IPL strategy.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389120" y="4261104"/>
            <a:ext cx="4297680" cy="530352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498848" y="433425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754880" y="4261104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Toss advantage is overrated compared to tactical execution.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PHASE INTELLIGENCE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Which Phase Wins Matches?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457200" y="1298448"/>
            <a:ext cx="2697480" cy="361188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457200" y="1298448"/>
            <a:ext cx="2697480" cy="54864"/>
          </a:xfrm>
          <a:prstGeom prst="rect">
            <a:avLst/>
          </a:prstGeom>
          <a:solidFill>
            <a:srgbClr val="4A90D9"/>
          </a:solidFill>
          <a:ln w="12700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566928" y="1417320"/>
            <a:ext cx="2478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POWERPLAY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566928" y="199339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Overs 1–6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21792" y="2286000"/>
            <a:ext cx="1051560" cy="685800"/>
          </a:xfrm>
          <a:prstGeom prst="rect">
            <a:avLst/>
          </a:prstGeom>
          <a:solidFill>
            <a:srgbClr val="0D2040"/>
          </a:solidFill>
          <a:ln w="9525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621792" y="23225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rPr>
              <a:t>7.8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21792" y="2670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 Rate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901952" y="2286000"/>
            <a:ext cx="1051560" cy="685800"/>
          </a:xfrm>
          <a:prstGeom prst="rect">
            <a:avLst/>
          </a:prstGeom>
          <a:solidFill>
            <a:srgbClr val="0D2040"/>
          </a:solidFill>
          <a:ln w="9525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1901952" y="23225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rPr>
              <a:t>1.2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901952" y="2670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Wkts/Match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94360" y="3090672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High pressure opening phase — teams look to accelerate without losing wickets. A strong powerplay sets the platform for the innings.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3355848" y="1298448"/>
            <a:ext cx="2697480" cy="361188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3355848" y="1298448"/>
            <a:ext cx="2697480" cy="54864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3465576" y="1417320"/>
            <a:ext cx="2478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MIDDLE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OVERS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3465576" y="199339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Overs 7–15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520440" y="2286000"/>
            <a:ext cx="1051560" cy="685800"/>
          </a:xfrm>
          <a:prstGeom prst="rect">
            <a:avLst/>
          </a:prstGeom>
          <a:solidFill>
            <a:srgbClr val="0D2040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3520440" y="23225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92A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C8992A"/>
                </a:solidFill>
                <a:latin typeface="Arial Black"/>
                <a:ea typeface="Arial Black"/>
                <a:cs typeface="Arial Black"/>
                <a:sym typeface="Arial Black"/>
              </a:rPr>
              <a:t>7.2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520440" y="2670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 Rate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800600" y="2286000"/>
            <a:ext cx="1051560" cy="685800"/>
          </a:xfrm>
          <a:prstGeom prst="rect">
            <a:avLst/>
          </a:prstGeom>
          <a:solidFill>
            <a:srgbClr val="0D2040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800600" y="23225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92A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C8992A"/>
                </a:solidFill>
                <a:latin typeface="Arial Black"/>
                <a:ea typeface="Arial Black"/>
                <a:cs typeface="Arial Black"/>
                <a:sym typeface="Arial Black"/>
              </a:rPr>
              <a:t>1.8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800600" y="2670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Wkts/Match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493008" y="3090672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Consolidation meets calculated risk. Middle-over bowlers apply dot-ball pressure while batters look for boundaries.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254496" y="1298448"/>
            <a:ext cx="2697480" cy="361188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6254496" y="1298448"/>
            <a:ext cx="2697480" cy="54864"/>
          </a:xfrm>
          <a:prstGeom prst="rect">
            <a:avLst/>
          </a:prstGeom>
          <a:solidFill>
            <a:srgbClr val="E05A5A"/>
          </a:solidFill>
          <a:ln w="12700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6364224" y="1417320"/>
            <a:ext cx="2478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DEATH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OVERS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364224" y="199339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Overs 16–20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6419088" y="2286000"/>
            <a:ext cx="1051560" cy="685800"/>
          </a:xfrm>
          <a:prstGeom prst="rect">
            <a:avLst/>
          </a:prstGeom>
          <a:solidFill>
            <a:srgbClr val="0D2040"/>
          </a:solidFill>
          <a:ln w="9525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419088" y="23225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5A5A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E05A5A"/>
                </a:solidFill>
                <a:latin typeface="Arial Black"/>
                <a:ea typeface="Arial Black"/>
                <a:cs typeface="Arial Black"/>
                <a:sym typeface="Arial Black"/>
              </a:rPr>
              <a:t>11.4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419088" y="2670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 Rate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7699248" y="2286000"/>
            <a:ext cx="1051560" cy="685800"/>
          </a:xfrm>
          <a:prstGeom prst="rect">
            <a:avLst/>
          </a:prstGeom>
          <a:solidFill>
            <a:srgbClr val="0D2040"/>
          </a:solidFill>
          <a:ln w="9525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7699248" y="23225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5A5A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E05A5A"/>
                </a:solidFill>
                <a:latin typeface="Arial Black"/>
                <a:ea typeface="Arial Black"/>
                <a:cs typeface="Arial Black"/>
                <a:sym typeface="Arial Black"/>
              </a:rPr>
              <a:t>2.1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7699248" y="2670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Wkts/Match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391656" y="3090672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Highest scoring phase. Death-over execution determines match outcomes — highest run acceleration &amp; wicket density.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3397690" y="274239"/>
            <a:ext cx="5554286" cy="34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★  KEY FINDING: Death Overs had the highest scoring acceleration and strongest match influence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BATTER INTELLIGENCE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Batting Performance Hub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457200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57200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148.6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57200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Strike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Avg top-5 batters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2633472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2633472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52.3%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633472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Boundary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Runs from boundaries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809744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4809744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120K+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809744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Runs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5-season aggregate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986016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6986016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13.4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6986016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6s per Match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Avg sixes per game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5715000" y="26060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Batting Insights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715000" y="2944368"/>
            <a:ext cx="2971800" cy="5486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715000" y="2944368"/>
            <a:ext cx="64008" cy="5486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5841286" y="2974023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852160" y="3154055"/>
            <a:ext cx="27888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Modern IPL rewards aggressive, boundary-focused batting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5715000" y="3630168"/>
            <a:ext cx="2971800" cy="5486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5715000" y="3630168"/>
            <a:ext cx="64008" cy="5486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5852160" y="3703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5852160" y="397764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Elite batters balance consistency with acceleration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5715000" y="4315968"/>
            <a:ext cx="2971800" cy="5486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715000" y="4315968"/>
            <a:ext cx="64008" cy="5486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5852160" y="43891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5852160" y="466344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Team dependency on top-3 batters is significant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03793-ADA5-FEFE-C403-054B1D833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06" y="2698030"/>
            <a:ext cx="3444538" cy="21109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BOWLER INTELLIGENCE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Bowling Pressure Analysis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457200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57200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38.4%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57200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Dot Ball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Bowling pressure index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2633472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2633472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8.6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2633472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Economy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Runs per over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809744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4809744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4K+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809744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Wickets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5-season aggregate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6986016" y="1298448"/>
            <a:ext cx="1993392" cy="1170432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6986016" y="1371600"/>
            <a:ext cx="1993392" cy="64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E8B84B"/>
                </a:solidFill>
                <a:latin typeface="Arial Black"/>
                <a:ea typeface="Arial Black"/>
                <a:cs typeface="Arial Black"/>
                <a:sym typeface="Arial Black"/>
              </a:rPr>
              <a:t>7.2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6986016" y="2000707"/>
            <a:ext cx="1993392" cy="44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Extras/Match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Avoidable runs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715000" y="26060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Bowling Insights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5715000" y="2944368"/>
            <a:ext cx="2971800" cy="5486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5715000" y="2944368"/>
            <a:ext cx="64008" cy="5486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5852160" y="2963149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5852160" y="3172224"/>
            <a:ext cx="27888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Dot-ball pressure impacts outcomes more than wickets alone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5715000" y="3630168"/>
            <a:ext cx="2971800" cy="5486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5715000" y="3630168"/>
            <a:ext cx="64008" cy="5486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5852160" y="3703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852160" y="397764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Death-over bowlers carry the highest risk and reward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715000" y="4315968"/>
            <a:ext cx="2971800" cy="548640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5715000" y="4315968"/>
            <a:ext cx="64008" cy="54864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5852160" y="4345623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Trebuchet MS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852160" y="4543824"/>
            <a:ext cx="27888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Extras are an underrated metric — a silent match-turner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36DD7-9C18-08B0-8239-1ED69F01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14538"/>
            <a:ext cx="3360711" cy="20347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"/>
          <p:cNvSpPr/>
          <p:nvPr/>
        </p:nvSpPr>
        <p:spPr>
          <a:xfrm>
            <a:off x="5029200" y="457200"/>
            <a:ext cx="4389120" cy="43891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>
              <a:alpha val="10196"/>
            </a:srgbClr>
          </a:solidFill>
          <a:ln w="9525" cap="flat" cmpd="sng">
            <a:solidFill>
              <a:srgbClr val="E8B84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SURPRISING FINDING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Hidden Insight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457200" y="1298448"/>
            <a:ext cx="8229600" cy="1261872"/>
          </a:xfrm>
          <a:prstGeom prst="rect">
            <a:avLst/>
          </a:prstGeom>
          <a:solidFill>
            <a:srgbClr val="112244"/>
          </a:solidFill>
          <a:ln w="152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457200" y="1298448"/>
            <a:ext cx="91440" cy="126187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1325880" y="1353312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600"/>
              <a:buFont typeface="Georgia"/>
              <a:buNone/>
            </a:pPr>
            <a:r>
              <a:rPr lang="en-US" sz="1600" b="1" i="1" u="none" strike="noStrike" cap="non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"Winning the toss has far less impact on IPL victories than death-over execution and bowling pressure."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457200" y="2761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Supporting Evidence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457200" y="3090672"/>
            <a:ext cx="2697480" cy="1755648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457200" y="3154680"/>
            <a:ext cx="2697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92A"/>
              </a:buClr>
              <a:buSzPts val="3800"/>
              <a:buFont typeface="Arial Black"/>
              <a:buNone/>
            </a:pPr>
            <a:r>
              <a:rPr lang="en-US" sz="3800" b="1" i="0" u="none" strike="noStrike" cap="none">
                <a:solidFill>
                  <a:srgbClr val="C8992A"/>
                </a:solidFill>
                <a:latin typeface="Arial Black"/>
                <a:ea typeface="Arial Black"/>
                <a:cs typeface="Arial Black"/>
                <a:sym typeface="Arial Black"/>
              </a:rPr>
              <a:t>49.1%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548640" y="382219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Toss Win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566928" y="4114800"/>
            <a:ext cx="2478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Below the expected 50% threshold — toss advantage is negligible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355848" y="3090672"/>
            <a:ext cx="2697480" cy="1755648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3355848" y="3154680"/>
            <a:ext cx="2697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5A5A"/>
              </a:buClr>
              <a:buSzPts val="3800"/>
              <a:buFont typeface="Arial Black"/>
              <a:buNone/>
            </a:pPr>
            <a:r>
              <a:rPr lang="en-US" sz="3800" b="1" i="0" u="none" strike="noStrike" cap="none" dirty="0">
                <a:solidFill>
                  <a:srgbClr val="E05A5A"/>
                </a:solidFill>
                <a:latin typeface="Arial Black"/>
                <a:ea typeface="Arial Black"/>
                <a:cs typeface="Arial Black"/>
                <a:sym typeface="Arial Black"/>
              </a:rPr>
              <a:t>10.75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447288" y="382219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Death Over RR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3465576" y="4114800"/>
            <a:ext cx="2478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Highest run rate phase — death overs determine match fate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6254496" y="3090672"/>
            <a:ext cx="2697480" cy="1755648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6254496" y="3154680"/>
            <a:ext cx="2697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3800"/>
              <a:buFont typeface="Arial Black"/>
              <a:buNone/>
            </a:pPr>
            <a:r>
              <a:rPr lang="en-US" sz="3800" b="1" i="0" u="none" strike="noStrike" cap="none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rPr>
              <a:t>38.4%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6345936" y="382219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Dot Ball 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6364224" y="4114800"/>
            <a:ext cx="2478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Bowling pressure strongly correlated with match victories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0B16E3-6169-9409-B7A4-3BD3015C5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366" y="1618202"/>
            <a:ext cx="585787" cy="5857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IMPACT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This Project Matters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457200" y="12984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Demonstrated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457200" y="1664208"/>
            <a:ext cx="3931920" cy="493776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1024128" y="1664208"/>
            <a:ext cx="32735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 Data Storytelling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457200" y="2276856"/>
            <a:ext cx="3931920" cy="493776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1024128" y="2276856"/>
            <a:ext cx="32735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 Sports Analytics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457200" y="2889504"/>
            <a:ext cx="3931920" cy="493776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1024128" y="2889504"/>
            <a:ext cx="32735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3. Predictive Thinking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457200" y="3502152"/>
            <a:ext cx="3931920" cy="493776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1024128" y="3502152"/>
            <a:ext cx="32735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4. KPI Design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457200" y="4114800"/>
            <a:ext cx="3931920" cy="493776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1024128" y="4114800"/>
            <a:ext cx="32735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5. Dashboard Intelligence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4663440" y="129844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8B84B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Applications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4663440" y="1664208"/>
            <a:ext cx="4023360" cy="65836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4663440" y="1664208"/>
            <a:ext cx="64008" cy="658368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4800600" y="17099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Strategy Optimization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4800600" y="1975104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Data-driven team selection &amp; match planning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4663440" y="2441448"/>
            <a:ext cx="4023360" cy="65836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4663440" y="2441448"/>
            <a:ext cx="64008" cy="658368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4800600" y="24871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Player Scouting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4800600" y="2752344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Analytics-based talent identification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4663440" y="3218688"/>
            <a:ext cx="4023360" cy="65836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4663440" y="3218688"/>
            <a:ext cx="64008" cy="658368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4800600" y="326440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Analytics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4800600" y="3529584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Individual &amp; team performance benchmarking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4663440" y="3995928"/>
            <a:ext cx="4023360" cy="658368"/>
          </a:xfrm>
          <a:prstGeom prst="rect">
            <a:avLst/>
          </a:prstGeom>
          <a:solidFill>
            <a:srgbClr val="112244"/>
          </a:solidFill>
          <a:ln w="95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4663440" y="3995928"/>
            <a:ext cx="64008" cy="658368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4800600" y="40416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Match Planning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4800600" y="4306824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Opponent-specific tactical preparation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7"/>
          <p:cNvSpPr/>
          <p:nvPr/>
        </p:nvSpPr>
        <p:spPr>
          <a:xfrm>
            <a:off x="5943600" y="18288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>
              <a:alpha val="12156"/>
            </a:srgbClr>
          </a:solidFill>
          <a:ln w="9525" cap="flat" cmpd="sng">
            <a:solidFill>
              <a:srgbClr val="E8B84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FINAL CONCLUSION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457200" y="566928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Truly Wins IPL Matches?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8992A">
              <a:alpha val="60000"/>
            </a:srgbClr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457200" y="1298448"/>
            <a:ext cx="4069080" cy="1170432"/>
          </a:xfrm>
          <a:prstGeom prst="rect">
            <a:avLst/>
          </a:prstGeom>
          <a:solidFill>
            <a:srgbClr val="112244"/>
          </a:solidFill>
          <a:ln w="15225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7"/>
          <p:cNvSpPr/>
          <p:nvPr/>
        </p:nvSpPr>
        <p:spPr>
          <a:xfrm>
            <a:off x="457200" y="1298448"/>
            <a:ext cx="4069080" cy="64008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640080" y="143560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Tactical Execution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640080" y="1865376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Smart game plans &gt; luck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4800600" y="1298448"/>
            <a:ext cx="4069080" cy="1170432"/>
          </a:xfrm>
          <a:prstGeom prst="rect">
            <a:avLst/>
          </a:prstGeom>
          <a:solidFill>
            <a:srgbClr val="112244"/>
          </a:solidFill>
          <a:ln w="15225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4800600" y="1298448"/>
            <a:ext cx="4069080" cy="64008"/>
          </a:xfrm>
          <a:prstGeom prst="rect">
            <a:avLst/>
          </a:prstGeom>
          <a:solidFill>
            <a:srgbClr val="E05A5A"/>
          </a:solidFill>
          <a:ln w="12700" cap="flat" cmpd="sng">
            <a:solidFill>
              <a:srgbClr val="E0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4983480" y="143560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Death-Over Efficiency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4983480" y="1865376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Final overs determine winners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457200" y="2624328"/>
            <a:ext cx="4069080" cy="1170432"/>
          </a:xfrm>
          <a:prstGeom prst="rect">
            <a:avLst/>
          </a:prstGeom>
          <a:solidFill>
            <a:srgbClr val="112244"/>
          </a:solidFill>
          <a:ln w="15225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457200" y="2624328"/>
            <a:ext cx="4069080" cy="64008"/>
          </a:xfrm>
          <a:prstGeom prst="rect">
            <a:avLst/>
          </a:prstGeom>
          <a:solidFill>
            <a:srgbClr val="4A90D9"/>
          </a:solidFill>
          <a:ln w="12700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640080" y="27614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Middle-Over Control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640080" y="3191256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Stability breeds victory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4800600" y="2624328"/>
            <a:ext cx="4069080" cy="1170432"/>
          </a:xfrm>
          <a:prstGeom prst="rect">
            <a:avLst/>
          </a:prstGeom>
          <a:solidFill>
            <a:srgbClr val="112244"/>
          </a:solidFill>
          <a:ln w="15225" cap="flat" cmpd="sng">
            <a:solidFill>
              <a:srgbClr val="5CB85C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4800600" y="2624328"/>
            <a:ext cx="4069080" cy="64008"/>
          </a:xfrm>
          <a:prstGeom prst="rect">
            <a:avLst/>
          </a:prstGeom>
          <a:solidFill>
            <a:srgbClr val="5CB85C"/>
          </a:solidFill>
          <a:ln w="12700" cap="flat" cmpd="sng">
            <a:solidFill>
              <a:srgbClr val="5CB8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4983480" y="27614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Bowling Discipline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4983480" y="3191256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Dot balls create pressure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457200" y="4069080"/>
            <a:ext cx="8229600" cy="841248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457200" y="4069080"/>
            <a:ext cx="91440" cy="841248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685800" y="4069080"/>
            <a:ext cx="790956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600"/>
              <a:buFont typeface="Georgia"/>
              <a:buNone/>
            </a:pPr>
            <a:r>
              <a:rPr lang="en-US" sz="1600" b="1" i="1" u="none" strike="noStrike" cap="non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"Data challenges assumptions — and reveals what truly wins matches."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5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"/>
          <p:cNvSpPr/>
          <p:nvPr/>
        </p:nvSpPr>
        <p:spPr>
          <a:xfrm>
            <a:off x="6217920" y="-91440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>
              <a:alpha val="12156"/>
            </a:srgbClr>
          </a:solidFill>
          <a:ln w="9525" cap="flat" cmpd="sng">
            <a:solidFill>
              <a:srgbClr val="E8B84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-1371600" y="320040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8992A">
              <a:alpha val="10196"/>
            </a:srgbClr>
          </a:solidFill>
          <a:ln w="9525" cap="flat" cmpd="sng">
            <a:solidFill>
              <a:srgbClr val="E8B84B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502920" y="457200"/>
            <a:ext cx="54864" cy="3474720"/>
          </a:xfrm>
          <a:prstGeom prst="rect">
            <a:avLst/>
          </a:prstGeom>
          <a:solidFill>
            <a:srgbClr val="C8992A"/>
          </a:solidFill>
          <a:ln w="1270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731520" y="73152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Arial Black"/>
              <a:buNone/>
            </a:pPr>
            <a:r>
              <a:rPr lang="en-US" sz="6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731520" y="16916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IPL Crunch '26  —  Data Analytics Hackathon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731520" y="2121408"/>
            <a:ext cx="5943600" cy="36576"/>
          </a:xfrm>
          <a:prstGeom prst="rect">
            <a:avLst/>
          </a:prstGeom>
          <a:solidFill>
            <a:srgbClr val="B0C4DE">
              <a:alpha val="40000"/>
            </a:srgbClr>
          </a:solidFill>
          <a:ln w="12700" cap="flat" cmpd="sng">
            <a:solidFill>
              <a:srgbClr val="B0C4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731520" y="241144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Yobin Bangera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731520" y="3127248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31520" y="3127248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2029968" y="3127248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2029968" y="3127248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3328416" y="3127248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3328416" y="3127248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4626864" y="3127248"/>
            <a:ext cx="1170432" cy="292608"/>
          </a:xfrm>
          <a:prstGeom prst="rect">
            <a:avLst/>
          </a:prstGeom>
          <a:solidFill>
            <a:srgbClr val="112244"/>
          </a:solidFill>
          <a:ln w="10150" cap="flat" cmpd="sng">
            <a:solidFill>
              <a:srgbClr val="C8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4626864" y="3127248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DAX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35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0B1935"/>
                </a:solidFill>
                <a:latin typeface="Trebuchet MS"/>
                <a:ea typeface="Trebuchet MS"/>
                <a:cs typeface="Trebuchet MS"/>
                <a:sym typeface="Trebuchet MS"/>
              </a:rPr>
              <a:t>Wooble  •  IPL Crunch '26  •  Data Analytics Hackathon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907</Words>
  <Application>Microsoft Office PowerPoint</Application>
  <PresentationFormat>On-screen Show (16:9)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Georgia</vt:lpstr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Yobin Omkar Bangera</cp:lastModifiedBy>
  <cp:revision>7</cp:revision>
  <dcterms:modified xsi:type="dcterms:W3CDTF">2026-05-21T09:55:12Z</dcterms:modified>
</cp:coreProperties>
</file>